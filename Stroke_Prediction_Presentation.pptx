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9" r:id="rId5"/>
    <p:sldId id="260" r:id="rId6"/>
    <p:sldId id="263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6B6B"/>
    <a:srgbClr val="6B00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791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840480" cy="3840480"/>
          </a:xfrm>
          <a:prstGeom prst="ellipse">
            <a:avLst/>
          </a:prstGeom>
          <a:solidFill>
            <a:srgbClr val="1E787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291840"/>
            <a:ext cx="2926080" cy="2926080"/>
          </a:xfrm>
          <a:prstGeom prst="ellipse">
            <a:avLst/>
          </a:prstGeom>
          <a:solidFill>
            <a:srgbClr val="0F4A4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PREDICTION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Logistic Regression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8046720" cy="45720"/>
          </a:xfrm>
          <a:prstGeom prst="rect">
            <a:avLst/>
          </a:prstGeom>
          <a:solidFill>
            <a:srgbClr val="1E7878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6148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Bhavya Prakasam  |  Reg. No. 24PSTAT0033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Statistics  |  St Thomas College Palai (Autonomous)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8040" y="44805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5303520" cy="45720"/>
          </a:xfrm>
          <a:prstGeom prst="rect">
            <a:avLst/>
          </a:prstGeom>
          <a:solidFill>
            <a:srgbClr val="1E7878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0" y="640080"/>
            <a:ext cx="3108960" cy="45720"/>
          </a:xfrm>
          <a:prstGeom prst="rect">
            <a:avLst/>
          </a:prstGeom>
          <a:solidFill>
            <a:srgbClr val="E8933A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804672"/>
            <a:ext cx="4114800" cy="4160520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04672"/>
            <a:ext cx="4114800" cy="365760"/>
          </a:xfrm>
          <a:prstGeom prst="rect">
            <a:avLst/>
          </a:prstGeom>
          <a:solidFill>
            <a:srgbClr val="1E7878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8046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Stroke?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216152"/>
            <a:ext cx="384048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occurs when blood supply to part of the brain is interrupted, causing brain cells to die within minutes.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leading cause of death globally — ~11% of all deaths.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8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main types: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Ischemic (blockage)  ·  Hemorrhagic (rupture)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8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Modifiable: hypertension, diabetes, smoking, obesity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Non-modifiable: age, gender, genetics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is critical for prevention and treatment.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82296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Objectives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207008"/>
            <a:ext cx="420624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207008"/>
            <a:ext cx="73152" cy="603504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13" name="Shape 11"/>
          <p:cNvSpPr/>
          <p:nvPr/>
        </p:nvSpPr>
        <p:spPr>
          <a:xfrm>
            <a:off x="4773168" y="1325880"/>
            <a:ext cx="329184" cy="329184"/>
          </a:xfrm>
          <a:prstGeom prst="ellipse">
            <a:avLst/>
          </a:prstGeom>
          <a:solidFill>
            <a:srgbClr val="1A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1307592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93792" y="1252728"/>
            <a:ext cx="3547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distribution of key attributes: age, gender, BMI, glucose level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883664"/>
            <a:ext cx="420624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1883664"/>
            <a:ext cx="73152" cy="603504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18" name="Shape 16"/>
          <p:cNvSpPr/>
          <p:nvPr/>
        </p:nvSpPr>
        <p:spPr>
          <a:xfrm>
            <a:off x="4773168" y="2002536"/>
            <a:ext cx="329184" cy="329184"/>
          </a:xfrm>
          <a:prstGeom prst="ellipse">
            <a:avLst/>
          </a:prstGeom>
          <a:solidFill>
            <a:srgbClr val="1A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1984248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93792" y="1929384"/>
            <a:ext cx="3547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study the main risk factors of stroke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560320"/>
            <a:ext cx="420624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2560320"/>
            <a:ext cx="73152" cy="603504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23" name="Shape 21"/>
          <p:cNvSpPr/>
          <p:nvPr/>
        </p:nvSpPr>
        <p:spPr>
          <a:xfrm>
            <a:off x="4773168" y="2679192"/>
            <a:ext cx="329184" cy="329184"/>
          </a:xfrm>
          <a:prstGeom prst="ellipse">
            <a:avLst/>
          </a:prstGeom>
          <a:solidFill>
            <a:srgbClr val="1A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2660904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93792" y="2606040"/>
            <a:ext cx="3547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logistic regression model for stroke probability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236976"/>
            <a:ext cx="420624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3236976"/>
            <a:ext cx="73152" cy="603504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28" name="Shape 26"/>
          <p:cNvSpPr/>
          <p:nvPr/>
        </p:nvSpPr>
        <p:spPr>
          <a:xfrm>
            <a:off x="4773168" y="3355848"/>
            <a:ext cx="329184" cy="329184"/>
          </a:xfrm>
          <a:prstGeom prst="ellipse">
            <a:avLst/>
          </a:prstGeom>
          <a:solidFill>
            <a:srgbClr val="1A6B6B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3337560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93792" y="3282696"/>
            <a:ext cx="3547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using accuracy, confusion matrix &amp; AUC-ROC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913632"/>
            <a:ext cx="420624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663440" y="3913632"/>
            <a:ext cx="73152" cy="603504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33" name="Shape 31"/>
          <p:cNvSpPr/>
          <p:nvPr/>
        </p:nvSpPr>
        <p:spPr>
          <a:xfrm>
            <a:off x="4773168" y="4032504"/>
            <a:ext cx="329184" cy="329184"/>
          </a:xfrm>
          <a:prstGeom prst="ellipse">
            <a:avLst/>
          </a:prstGeom>
          <a:solidFill>
            <a:srgbClr val="1A6B6B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4014216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93792" y="3959352"/>
            <a:ext cx="3547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clinical significance via Odds Ratio analysis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">
            <a:extLst>
              <a:ext uri="{FF2B5EF4-FFF2-40B4-BE49-F238E27FC236}">
                <a16:creationId xmlns:a16="http://schemas.microsoft.com/office/drawing/2014/main" id="{0A73E950-BBD1-428C-B3F5-ADD43585EA4D}"/>
              </a:ext>
            </a:extLst>
          </p:cNvPr>
          <p:cNvSpPr/>
          <p:nvPr/>
        </p:nvSpPr>
        <p:spPr>
          <a:xfrm>
            <a:off x="557784" y="804672"/>
            <a:ext cx="2724912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EA8EB910-B1FB-F015-5AEE-D5C4CFF6FA46}"/>
              </a:ext>
            </a:extLst>
          </p:cNvPr>
          <p:cNvSpPr/>
          <p:nvPr/>
        </p:nvSpPr>
        <p:spPr>
          <a:xfrm>
            <a:off x="3621024" y="1361071"/>
            <a:ext cx="25054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3C46464C-C52F-B86A-7693-15D437E235B9}"/>
              </a:ext>
            </a:extLst>
          </p:cNvPr>
          <p:cNvSpPr/>
          <p:nvPr/>
        </p:nvSpPr>
        <p:spPr>
          <a:xfrm>
            <a:off x="3172968" y="804672"/>
            <a:ext cx="2724912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A1DBECFD-3514-058D-61D3-B81CA4C7EEF0}"/>
              </a:ext>
            </a:extLst>
          </p:cNvPr>
          <p:cNvSpPr/>
          <p:nvPr/>
        </p:nvSpPr>
        <p:spPr>
          <a:xfrm>
            <a:off x="3282696" y="1243584"/>
            <a:ext cx="25054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FF656609-906E-4C96-B142-E04758769A19}"/>
              </a:ext>
            </a:extLst>
          </p:cNvPr>
          <p:cNvSpPr/>
          <p:nvPr/>
        </p:nvSpPr>
        <p:spPr>
          <a:xfrm>
            <a:off x="6135624" y="1243584"/>
            <a:ext cx="25054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46A4185F-3A9E-10AA-E0ED-675396756777}"/>
              </a:ext>
            </a:extLst>
          </p:cNvPr>
          <p:cNvSpPr/>
          <p:nvPr/>
        </p:nvSpPr>
        <p:spPr>
          <a:xfrm>
            <a:off x="548640" y="3313315"/>
            <a:ext cx="2724912" cy="91440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717A0FA4-557A-5BDF-E02B-59A2D792404F}"/>
              </a:ext>
            </a:extLst>
          </p:cNvPr>
          <p:cNvSpPr/>
          <p:nvPr/>
        </p:nvSpPr>
        <p:spPr>
          <a:xfrm>
            <a:off x="658368" y="3386467"/>
            <a:ext cx="310896" cy="310896"/>
          </a:xfrm>
          <a:prstGeom prst="ellipse">
            <a:avLst/>
          </a:prstGeom>
          <a:solidFill>
            <a:srgbClr val="1A6B6B"/>
          </a:solidFill>
          <a:ln/>
        </p:spPr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A23C5DC3-7EBE-DE8A-6F0D-2E23CC84A1E3}"/>
              </a:ext>
            </a:extLst>
          </p:cNvPr>
          <p:cNvSpPr/>
          <p:nvPr/>
        </p:nvSpPr>
        <p:spPr>
          <a:xfrm>
            <a:off x="658368" y="3368179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A03FE694-A826-67B2-A907-FC8A6668A2E0}"/>
              </a:ext>
            </a:extLst>
          </p:cNvPr>
          <p:cNvSpPr/>
          <p:nvPr/>
        </p:nvSpPr>
        <p:spPr>
          <a:xfrm>
            <a:off x="1042416" y="3377323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Imputation</a:t>
            </a:r>
            <a:endParaRPr lang="en-US" sz="11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D6140B7E-B594-ED99-4036-FA3F0A3C4921}"/>
              </a:ext>
            </a:extLst>
          </p:cNvPr>
          <p:cNvSpPr/>
          <p:nvPr/>
        </p:nvSpPr>
        <p:spPr>
          <a:xfrm>
            <a:off x="658368" y="3752227"/>
            <a:ext cx="25054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had 201 missing values (~3.9%). Median imputation used (median BMI = 28.1 kg/m²) — preferred over mean due to skewness. Robust to outliers.</a:t>
            </a:r>
            <a:endParaRPr lang="en-US" sz="100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33C54A10-3A49-92E5-F7D5-3C23FFF57866}"/>
              </a:ext>
            </a:extLst>
          </p:cNvPr>
          <p:cNvSpPr/>
          <p:nvPr/>
        </p:nvSpPr>
        <p:spPr>
          <a:xfrm>
            <a:off x="3401568" y="3313315"/>
            <a:ext cx="2724912" cy="91440"/>
          </a:xfrm>
          <a:prstGeom prst="rect">
            <a:avLst/>
          </a:prstGeom>
          <a:solidFill>
            <a:srgbClr val="1E7878"/>
          </a:solidFill>
          <a:ln/>
        </p:spPr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A0CC8539-D6C4-16D2-6968-9949C01D9D84}"/>
              </a:ext>
            </a:extLst>
          </p:cNvPr>
          <p:cNvSpPr/>
          <p:nvPr/>
        </p:nvSpPr>
        <p:spPr>
          <a:xfrm>
            <a:off x="3511296" y="3386467"/>
            <a:ext cx="310896" cy="310896"/>
          </a:xfrm>
          <a:prstGeom prst="ellipse">
            <a:avLst/>
          </a:prstGeom>
          <a:solidFill>
            <a:srgbClr val="1E7878"/>
          </a:solidFill>
          <a:ln/>
        </p:spPr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B82CDF4F-810E-8226-57FB-64A36FC0709F}"/>
              </a:ext>
            </a:extLst>
          </p:cNvPr>
          <p:cNvSpPr/>
          <p:nvPr/>
        </p:nvSpPr>
        <p:spPr>
          <a:xfrm>
            <a:off x="3511296" y="3368179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06B94590-187C-B64E-A3F0-EB134A3F738A}"/>
              </a:ext>
            </a:extLst>
          </p:cNvPr>
          <p:cNvSpPr/>
          <p:nvPr/>
        </p:nvSpPr>
        <p:spPr>
          <a:xfrm>
            <a:off x="3895344" y="3377323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&amp; Outlier Removal</a:t>
            </a:r>
            <a:endParaRPr lang="en-US" sz="1100" dirty="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8E60750A-D1EE-6BAB-040A-8338DBF237B0}"/>
              </a:ext>
            </a:extLst>
          </p:cNvPr>
          <p:cNvSpPr/>
          <p:nvPr/>
        </p:nvSpPr>
        <p:spPr>
          <a:xfrm>
            <a:off x="3511296" y="3752227"/>
            <a:ext cx="25054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individuals aged &lt;18 yrs. Removed BMI values &lt;10 or &gt;60 (physiologically implausible). Dropped 'Never Worked' work type and 'Other' gender — too few for meaningful pattern.</a:t>
            </a:r>
            <a:endParaRPr lang="en-US" sz="1000" dirty="0"/>
          </a:p>
        </p:txBody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1413E81A-1950-EC74-C6A7-99F61E7F5B2F}"/>
              </a:ext>
            </a:extLst>
          </p:cNvPr>
          <p:cNvSpPr/>
          <p:nvPr/>
        </p:nvSpPr>
        <p:spPr>
          <a:xfrm>
            <a:off x="6254496" y="3313315"/>
            <a:ext cx="2724912" cy="91440"/>
          </a:xfrm>
          <a:prstGeom prst="rect">
            <a:avLst/>
          </a:prstGeom>
          <a:solidFill>
            <a:srgbClr val="E8933A"/>
          </a:solidFill>
          <a:ln/>
        </p:spPr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AF8E7659-69E6-ECC3-D4FF-50EDD1B9D1A8}"/>
              </a:ext>
            </a:extLst>
          </p:cNvPr>
          <p:cNvSpPr/>
          <p:nvPr/>
        </p:nvSpPr>
        <p:spPr>
          <a:xfrm>
            <a:off x="6364224" y="3386467"/>
            <a:ext cx="310896" cy="310896"/>
          </a:xfrm>
          <a:prstGeom prst="ellipse">
            <a:avLst/>
          </a:prstGeom>
          <a:solidFill>
            <a:srgbClr val="E8933A"/>
          </a:solidFill>
          <a:ln/>
        </p:spPr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7E543E67-928A-8ED3-9EB5-32E8206F34BE}"/>
              </a:ext>
            </a:extLst>
          </p:cNvPr>
          <p:cNvSpPr/>
          <p:nvPr/>
        </p:nvSpPr>
        <p:spPr>
          <a:xfrm>
            <a:off x="6364224" y="3368179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36ED586A-C024-4B74-2A69-9D6138A20630}"/>
              </a:ext>
            </a:extLst>
          </p:cNvPr>
          <p:cNvSpPr/>
          <p:nvPr/>
        </p:nvSpPr>
        <p:spPr>
          <a:xfrm>
            <a:off x="6748272" y="3377323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Encoding</a:t>
            </a:r>
            <a:endParaRPr lang="en-US" sz="110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7984CE9F-5987-A2C5-E602-C17F76CA9836}"/>
              </a:ext>
            </a:extLst>
          </p:cNvPr>
          <p:cNvSpPr/>
          <p:nvPr/>
        </p:nvSpPr>
        <p:spPr>
          <a:xfrm>
            <a:off x="6364224" y="3752227"/>
            <a:ext cx="25054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variables (gender, work type, residence, smoking, marital status) encoded as factors using as.factor() in R. ID column dropped. </a:t>
            </a:r>
            <a:endParaRPr lang="en-US" sz="1000" dirty="0"/>
          </a:p>
        </p:txBody>
      </p:sp>
      <p:sp>
        <p:nvSpPr>
          <p:cNvPr id="35" name="Shape 0">
            <a:extLst>
              <a:ext uri="{FF2B5EF4-FFF2-40B4-BE49-F238E27FC236}">
                <a16:creationId xmlns:a16="http://schemas.microsoft.com/office/drawing/2014/main" id="{D6712D56-DB28-36A3-84DA-34B9574E297C}"/>
              </a:ext>
            </a:extLst>
          </p:cNvPr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4EE7D2F5-6D33-E3FE-660D-7B5276238BE5}"/>
              </a:ext>
            </a:extLst>
          </p:cNvPr>
          <p:cNvSpPr/>
          <p:nvPr/>
        </p:nvSpPr>
        <p:spPr>
          <a:xfrm>
            <a:off x="365760" y="8229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Description &amp; Cleaning</a:t>
            </a:r>
            <a:endParaRPr lang="en-US" sz="2200" dirty="0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0668665A-8EA3-8653-F5F3-FDDDA9C91CA5}"/>
              </a:ext>
            </a:extLst>
          </p:cNvPr>
          <p:cNvSpPr/>
          <p:nvPr/>
        </p:nvSpPr>
        <p:spPr>
          <a:xfrm>
            <a:off x="365760" y="640080"/>
            <a:ext cx="5303520" cy="45720"/>
          </a:xfrm>
          <a:prstGeom prst="rect">
            <a:avLst/>
          </a:prstGeom>
          <a:solidFill>
            <a:srgbClr val="1E7878"/>
          </a:solidFill>
          <a:ln/>
        </p:spPr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17C55646-2E7E-F302-3F56-FE8E860ABECD}"/>
              </a:ext>
            </a:extLst>
          </p:cNvPr>
          <p:cNvSpPr/>
          <p:nvPr/>
        </p:nvSpPr>
        <p:spPr>
          <a:xfrm>
            <a:off x="5669280" y="640080"/>
            <a:ext cx="3108960" cy="45720"/>
          </a:xfrm>
          <a:prstGeom prst="rect">
            <a:avLst/>
          </a:prstGeom>
          <a:solidFill>
            <a:srgbClr val="E8933A"/>
          </a:solidFill>
          <a:ln/>
        </p:spPr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1531EBAC-8B26-DEAE-184E-42AA6A75C355}"/>
              </a:ext>
            </a:extLst>
          </p:cNvPr>
          <p:cNvSpPr/>
          <p:nvPr/>
        </p:nvSpPr>
        <p:spPr>
          <a:xfrm>
            <a:off x="429768" y="859536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C5603F78-691B-32C0-1A96-24CCF60461FB}"/>
              </a:ext>
            </a:extLst>
          </p:cNvPr>
          <p:cNvSpPr/>
          <p:nvPr/>
        </p:nvSpPr>
        <p:spPr>
          <a:xfrm>
            <a:off x="813816" y="8686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EDB4A5F9-E5B4-9E37-DC0C-71CD847BBE8E}"/>
              </a:ext>
            </a:extLst>
          </p:cNvPr>
          <p:cNvSpPr/>
          <p:nvPr/>
        </p:nvSpPr>
        <p:spPr>
          <a:xfrm>
            <a:off x="3172968" y="804672"/>
            <a:ext cx="2724912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21F8B520-7E9C-DDB9-6BAB-C3B392A41FF4}"/>
              </a:ext>
            </a:extLst>
          </p:cNvPr>
          <p:cNvSpPr/>
          <p:nvPr/>
        </p:nvSpPr>
        <p:spPr>
          <a:xfrm>
            <a:off x="3282696" y="859536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0A61E852-B8DE-CB00-1E20-BB39E234756F}"/>
              </a:ext>
            </a:extLst>
          </p:cNvPr>
          <p:cNvSpPr/>
          <p:nvPr/>
        </p:nvSpPr>
        <p:spPr>
          <a:xfrm>
            <a:off x="3666744" y="8686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1487D208-9178-4689-D40A-1DD3F804ECDD}"/>
              </a:ext>
            </a:extLst>
          </p:cNvPr>
          <p:cNvSpPr/>
          <p:nvPr/>
        </p:nvSpPr>
        <p:spPr>
          <a:xfrm>
            <a:off x="3282696" y="1243584"/>
            <a:ext cx="25054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40E49533-7AA2-2982-8E34-176386394635}"/>
              </a:ext>
            </a:extLst>
          </p:cNvPr>
          <p:cNvSpPr/>
          <p:nvPr/>
        </p:nvSpPr>
        <p:spPr>
          <a:xfrm>
            <a:off x="6025896" y="804672"/>
            <a:ext cx="2724912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6DEF74DC-73F0-DCD7-0331-0B808196A385}"/>
              </a:ext>
            </a:extLst>
          </p:cNvPr>
          <p:cNvSpPr/>
          <p:nvPr/>
        </p:nvSpPr>
        <p:spPr>
          <a:xfrm>
            <a:off x="6025896" y="804672"/>
            <a:ext cx="2724912" cy="91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CAEBE2BD-837B-821B-4CE6-A28BF98184EA}"/>
              </a:ext>
            </a:extLst>
          </p:cNvPr>
          <p:cNvSpPr/>
          <p:nvPr/>
        </p:nvSpPr>
        <p:spPr>
          <a:xfrm>
            <a:off x="6135624" y="859536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03CB8743-AD24-7E57-182D-83E4044F6533}"/>
              </a:ext>
            </a:extLst>
          </p:cNvPr>
          <p:cNvSpPr/>
          <p:nvPr/>
        </p:nvSpPr>
        <p:spPr>
          <a:xfrm>
            <a:off x="6519672" y="8686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2A0E3507-BD85-5419-A036-AC12DA7D245E}"/>
              </a:ext>
            </a:extLst>
          </p:cNvPr>
          <p:cNvSpPr/>
          <p:nvPr/>
        </p:nvSpPr>
        <p:spPr>
          <a:xfrm>
            <a:off x="6135624" y="1243584"/>
            <a:ext cx="25054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6EB3E3A9-E667-30CB-85D5-00D21DA59F6F}"/>
              </a:ext>
            </a:extLst>
          </p:cNvPr>
          <p:cNvSpPr/>
          <p:nvPr/>
        </p:nvSpPr>
        <p:spPr>
          <a:xfrm>
            <a:off x="786384" y="702703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graphicFrame>
        <p:nvGraphicFramePr>
          <p:cNvPr id="51" name="Table 0">
            <a:extLst>
              <a:ext uri="{FF2B5EF4-FFF2-40B4-BE49-F238E27FC236}">
                <a16:creationId xmlns:a16="http://schemas.microsoft.com/office/drawing/2014/main" id="{4443F1C5-E0A1-319D-C0FF-C751F7E842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083729"/>
              </p:ext>
            </p:extLst>
          </p:nvPr>
        </p:nvGraphicFramePr>
        <p:xfrm>
          <a:off x="301752" y="1026483"/>
          <a:ext cx="5486400" cy="18897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in Years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Hypertension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No, 1 =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Disease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No, 1 =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Glucose Level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glucose (mg/dL)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Mass Index (kg/m²)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Smoking 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/ Smokes / Formerly / Unknown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Stroke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(Target)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No Stroke, 1 = Stroke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2" name="Text 24">
            <a:extLst>
              <a:ext uri="{FF2B5EF4-FFF2-40B4-BE49-F238E27FC236}">
                <a16:creationId xmlns:a16="http://schemas.microsoft.com/office/drawing/2014/main" id="{59B9EE4A-EC35-2F13-666C-1179F5764523}"/>
              </a:ext>
            </a:extLst>
          </p:cNvPr>
          <p:cNvSpPr/>
          <p:nvPr/>
        </p:nvSpPr>
        <p:spPr>
          <a:xfrm>
            <a:off x="5989320" y="1065553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5,110</a:t>
            </a:r>
            <a:endParaRPr lang="en-US" sz="170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7AFDC480-2199-297E-1E56-5C17CA42A24B}"/>
              </a:ext>
            </a:extLst>
          </p:cNvPr>
          <p:cNvSpPr/>
          <p:nvPr/>
        </p:nvSpPr>
        <p:spPr>
          <a:xfrm>
            <a:off x="7178040" y="1138705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100" dirty="0"/>
          </a:p>
        </p:txBody>
      </p:sp>
      <p:sp>
        <p:nvSpPr>
          <p:cNvPr id="54" name="Shape 26">
            <a:extLst>
              <a:ext uri="{FF2B5EF4-FFF2-40B4-BE49-F238E27FC236}">
                <a16:creationId xmlns:a16="http://schemas.microsoft.com/office/drawing/2014/main" id="{0E59A53D-CAAD-D330-8551-F7E33EF30243}"/>
              </a:ext>
            </a:extLst>
          </p:cNvPr>
          <p:cNvSpPr/>
          <p:nvPr/>
        </p:nvSpPr>
        <p:spPr>
          <a:xfrm>
            <a:off x="5989320" y="1504465"/>
            <a:ext cx="2834640" cy="402336"/>
          </a:xfrm>
          <a:prstGeom prst="rect">
            <a:avLst/>
          </a:prstGeom>
          <a:solidFill>
            <a:srgbClr val="1E787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EC311043-CAE7-3E4C-9668-3731C7A9D2B7}"/>
              </a:ext>
            </a:extLst>
          </p:cNvPr>
          <p:cNvSpPr/>
          <p:nvPr/>
        </p:nvSpPr>
        <p:spPr>
          <a:xfrm>
            <a:off x="5989320" y="1522753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700" dirty="0"/>
          </a:p>
        </p:txBody>
      </p:sp>
      <p:sp>
        <p:nvSpPr>
          <p:cNvPr id="56" name="Text 28">
            <a:extLst>
              <a:ext uri="{FF2B5EF4-FFF2-40B4-BE49-F238E27FC236}">
                <a16:creationId xmlns:a16="http://schemas.microsoft.com/office/drawing/2014/main" id="{603BBB65-A1B7-2A91-E407-D59A470F872C}"/>
              </a:ext>
            </a:extLst>
          </p:cNvPr>
          <p:cNvSpPr/>
          <p:nvPr/>
        </p:nvSpPr>
        <p:spPr>
          <a:xfrm>
            <a:off x="7178040" y="1595905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BMI</a:t>
            </a:r>
            <a:endParaRPr lang="en-US" sz="1100" dirty="0"/>
          </a:p>
        </p:txBody>
      </p:sp>
      <p:sp>
        <p:nvSpPr>
          <p:cNvPr id="57" name="Shape 29">
            <a:extLst>
              <a:ext uri="{FF2B5EF4-FFF2-40B4-BE49-F238E27FC236}">
                <a16:creationId xmlns:a16="http://schemas.microsoft.com/office/drawing/2014/main" id="{21A1A542-F007-7A87-7665-ABE65856199B}"/>
              </a:ext>
            </a:extLst>
          </p:cNvPr>
          <p:cNvSpPr/>
          <p:nvPr/>
        </p:nvSpPr>
        <p:spPr>
          <a:xfrm>
            <a:off x="5989320" y="1961665"/>
            <a:ext cx="2834640" cy="402336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58" name="Text 30">
            <a:extLst>
              <a:ext uri="{FF2B5EF4-FFF2-40B4-BE49-F238E27FC236}">
                <a16:creationId xmlns:a16="http://schemas.microsoft.com/office/drawing/2014/main" id="{B25296E1-0810-3542-DFE0-84DF2C3BCBCC}"/>
              </a:ext>
            </a:extLst>
          </p:cNvPr>
          <p:cNvSpPr/>
          <p:nvPr/>
        </p:nvSpPr>
        <p:spPr>
          <a:xfrm>
            <a:off x="5989320" y="1979953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4,236</a:t>
            </a:r>
            <a:endParaRPr lang="en-US" sz="1700" dirty="0"/>
          </a:p>
        </p:txBody>
      </p:sp>
      <p:sp>
        <p:nvSpPr>
          <p:cNvPr id="59" name="Text 31">
            <a:extLst>
              <a:ext uri="{FF2B5EF4-FFF2-40B4-BE49-F238E27FC236}">
                <a16:creationId xmlns:a16="http://schemas.microsoft.com/office/drawing/2014/main" id="{37FA9A59-FC1E-FB09-CEB6-E4CF50291B83}"/>
              </a:ext>
            </a:extLst>
          </p:cNvPr>
          <p:cNvSpPr/>
          <p:nvPr/>
        </p:nvSpPr>
        <p:spPr>
          <a:xfrm>
            <a:off x="7178040" y="2053105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</a:t>
            </a:r>
            <a:endParaRPr lang="en-US" sz="1100" dirty="0"/>
          </a:p>
        </p:txBody>
      </p:sp>
      <p:sp>
        <p:nvSpPr>
          <p:cNvPr id="60" name="Shape 32">
            <a:extLst>
              <a:ext uri="{FF2B5EF4-FFF2-40B4-BE49-F238E27FC236}">
                <a16:creationId xmlns:a16="http://schemas.microsoft.com/office/drawing/2014/main" id="{A1CECAF5-E2AD-0233-EFCB-2B56A1CCE3F5}"/>
              </a:ext>
            </a:extLst>
          </p:cNvPr>
          <p:cNvSpPr/>
          <p:nvPr/>
        </p:nvSpPr>
        <p:spPr>
          <a:xfrm>
            <a:off x="5989320" y="2418865"/>
            <a:ext cx="2834640" cy="402336"/>
          </a:xfrm>
          <a:prstGeom prst="rect">
            <a:avLst/>
          </a:prstGeom>
          <a:solidFill>
            <a:srgbClr val="1E7878"/>
          </a:solidFill>
          <a:ln/>
        </p:spPr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9A5D6E2B-9080-4C46-B061-7336768D53E6}"/>
              </a:ext>
            </a:extLst>
          </p:cNvPr>
          <p:cNvSpPr/>
          <p:nvPr/>
        </p:nvSpPr>
        <p:spPr>
          <a:xfrm>
            <a:off x="5989320" y="2437153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62" name="Text 34">
            <a:extLst>
              <a:ext uri="{FF2B5EF4-FFF2-40B4-BE49-F238E27FC236}">
                <a16:creationId xmlns:a16="http://schemas.microsoft.com/office/drawing/2014/main" id="{F51FCD17-14A1-03E9-D37C-9B6ADD2E8515}"/>
              </a:ext>
            </a:extLst>
          </p:cNvPr>
          <p:cNvSpPr/>
          <p:nvPr/>
        </p:nvSpPr>
        <p:spPr>
          <a:xfrm>
            <a:off x="7178040" y="2510305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63" name="Shape 23">
            <a:extLst>
              <a:ext uri="{FF2B5EF4-FFF2-40B4-BE49-F238E27FC236}">
                <a16:creationId xmlns:a16="http://schemas.microsoft.com/office/drawing/2014/main" id="{5D213BF9-4AA3-40E1-F817-59FD6FDC4F8A}"/>
              </a:ext>
            </a:extLst>
          </p:cNvPr>
          <p:cNvSpPr/>
          <p:nvPr/>
        </p:nvSpPr>
        <p:spPr>
          <a:xfrm>
            <a:off x="5989320" y="1039784"/>
            <a:ext cx="2834640" cy="402336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64" name="Text 24">
            <a:extLst>
              <a:ext uri="{FF2B5EF4-FFF2-40B4-BE49-F238E27FC236}">
                <a16:creationId xmlns:a16="http://schemas.microsoft.com/office/drawing/2014/main" id="{78767B4A-29CE-4ECB-DE9D-48D3371B518D}"/>
              </a:ext>
            </a:extLst>
          </p:cNvPr>
          <p:cNvSpPr/>
          <p:nvPr/>
        </p:nvSpPr>
        <p:spPr>
          <a:xfrm>
            <a:off x="6007608" y="106797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5,110</a:t>
            </a:r>
            <a:endParaRPr lang="en-US" sz="1700" dirty="0"/>
          </a:p>
        </p:txBody>
      </p:sp>
      <p:sp>
        <p:nvSpPr>
          <p:cNvPr id="65" name="Text 25">
            <a:extLst>
              <a:ext uri="{FF2B5EF4-FFF2-40B4-BE49-F238E27FC236}">
                <a16:creationId xmlns:a16="http://schemas.microsoft.com/office/drawing/2014/main" id="{594C23A3-FA6C-9842-2FC1-51FBEFE9924D}"/>
              </a:ext>
            </a:extLst>
          </p:cNvPr>
          <p:cNvSpPr/>
          <p:nvPr/>
        </p:nvSpPr>
        <p:spPr>
          <a:xfrm>
            <a:off x="7196328" y="114113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1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A8415EB-5D0F-EA5B-5BD3-5FA1EC8C4F8C}"/>
              </a:ext>
            </a:extLst>
          </p:cNvPr>
          <p:cNvSpPr txBox="1"/>
          <p:nvPr/>
        </p:nvSpPr>
        <p:spPr>
          <a:xfrm>
            <a:off x="868679" y="2967505"/>
            <a:ext cx="23042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</a:p>
          <a:p>
            <a:endParaRPr lang="en-US" sz="13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219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5303520" cy="45720"/>
          </a:xfrm>
          <a:prstGeom prst="rect">
            <a:avLst/>
          </a:prstGeom>
          <a:solidFill>
            <a:srgbClr val="1E7878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0" y="640080"/>
            <a:ext cx="3108960" cy="45720"/>
          </a:xfrm>
          <a:prstGeom prst="rect">
            <a:avLst/>
          </a:prstGeom>
          <a:solidFill>
            <a:srgbClr val="E8933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046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15568"/>
          <a:ext cx="3749040" cy="113385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 (mg/dL)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108.53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271.74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 (kg/m²)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24231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 Summary</a:t>
            </a:r>
            <a:endParaRPr lang="en-US" sz="12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743200"/>
          <a:ext cx="4160520" cy="248716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 Married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 Residence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Smoked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Hypertension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Disease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Stroke (Target)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663440" y="8046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663440" y="117957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663440" y="1655064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663440" y="2130552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596128" y="841248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583680" y="841248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571232" y="841248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596128" y="1115568"/>
            <a:ext cx="950976" cy="438912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18" name="Text 14"/>
          <p:cNvSpPr/>
          <p:nvPr/>
        </p:nvSpPr>
        <p:spPr>
          <a:xfrm>
            <a:off x="5596128" y="1207008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583680" y="1115568"/>
            <a:ext cx="950976" cy="438912"/>
          </a:xfrm>
          <a:prstGeom prst="rect">
            <a:avLst/>
          </a:prstGeom>
          <a:solidFill>
            <a:srgbClr val="E4F0F0"/>
          </a:solidFill>
          <a:ln/>
        </p:spPr>
      </p:sp>
      <p:sp>
        <p:nvSpPr>
          <p:cNvPr id="20" name="Text 16"/>
          <p:cNvSpPr/>
          <p:nvPr/>
        </p:nvSpPr>
        <p:spPr>
          <a:xfrm>
            <a:off x="6583680" y="1207008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571232" y="1115568"/>
            <a:ext cx="950976" cy="438912"/>
          </a:xfrm>
          <a:prstGeom prst="rect">
            <a:avLst/>
          </a:prstGeom>
          <a:solidFill>
            <a:srgbClr val="1E7878"/>
          </a:solidFill>
          <a:ln/>
        </p:spPr>
      </p:sp>
      <p:sp>
        <p:nvSpPr>
          <p:cNvPr id="22" name="Text 18"/>
          <p:cNvSpPr/>
          <p:nvPr/>
        </p:nvSpPr>
        <p:spPr>
          <a:xfrm>
            <a:off x="7571232" y="1207008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596128" y="1591056"/>
            <a:ext cx="950976" cy="438912"/>
          </a:xfrm>
          <a:prstGeom prst="rect">
            <a:avLst/>
          </a:prstGeom>
          <a:solidFill>
            <a:srgbClr val="E4F0F0"/>
          </a:solidFill>
          <a:ln/>
        </p:spPr>
      </p:sp>
      <p:sp>
        <p:nvSpPr>
          <p:cNvPr id="24" name="Text 20"/>
          <p:cNvSpPr/>
          <p:nvPr/>
        </p:nvSpPr>
        <p:spPr>
          <a:xfrm>
            <a:off x="5596128" y="1682496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6583680" y="1591056"/>
            <a:ext cx="950976" cy="438912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26" name="Text 22"/>
          <p:cNvSpPr/>
          <p:nvPr/>
        </p:nvSpPr>
        <p:spPr>
          <a:xfrm>
            <a:off x="6583680" y="1682496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7571232" y="1591056"/>
            <a:ext cx="950976" cy="438912"/>
          </a:xfrm>
          <a:prstGeom prst="rect">
            <a:avLst/>
          </a:prstGeom>
          <a:solidFill>
            <a:srgbClr val="A8CECE"/>
          </a:solidFill>
          <a:ln/>
        </p:spPr>
      </p:sp>
      <p:sp>
        <p:nvSpPr>
          <p:cNvPr id="28" name="Text 24"/>
          <p:cNvSpPr/>
          <p:nvPr/>
        </p:nvSpPr>
        <p:spPr>
          <a:xfrm>
            <a:off x="7571232" y="1682496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5596128" y="2066544"/>
            <a:ext cx="950976" cy="438912"/>
          </a:xfrm>
          <a:prstGeom prst="rect">
            <a:avLst/>
          </a:prstGeom>
          <a:solidFill>
            <a:srgbClr val="1E7878"/>
          </a:solidFill>
          <a:ln/>
        </p:spPr>
      </p:sp>
      <p:sp>
        <p:nvSpPr>
          <p:cNvPr id="30" name="Text 26"/>
          <p:cNvSpPr/>
          <p:nvPr/>
        </p:nvSpPr>
        <p:spPr>
          <a:xfrm>
            <a:off x="5596128" y="2157984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6583680" y="2066544"/>
            <a:ext cx="950976" cy="438912"/>
          </a:xfrm>
          <a:prstGeom prst="rect">
            <a:avLst/>
          </a:prstGeom>
          <a:solidFill>
            <a:srgbClr val="A8CECE"/>
          </a:solidFill>
          <a:ln/>
        </p:spPr>
      </p:sp>
      <p:sp>
        <p:nvSpPr>
          <p:cNvPr id="32" name="Text 28"/>
          <p:cNvSpPr/>
          <p:nvPr/>
        </p:nvSpPr>
        <p:spPr>
          <a:xfrm>
            <a:off x="6583680" y="2157984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7571232" y="2066544"/>
            <a:ext cx="950976" cy="438912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34" name="Text 30"/>
          <p:cNvSpPr/>
          <p:nvPr/>
        </p:nvSpPr>
        <p:spPr>
          <a:xfrm>
            <a:off x="7571232" y="2157984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4663440" y="2697480"/>
            <a:ext cx="4160520" cy="2331720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36" name="Shape 32"/>
          <p:cNvSpPr/>
          <p:nvPr/>
        </p:nvSpPr>
        <p:spPr>
          <a:xfrm>
            <a:off x="4663440" y="2697480"/>
            <a:ext cx="4160520" cy="347472"/>
          </a:xfrm>
          <a:prstGeom prst="rect">
            <a:avLst/>
          </a:prstGeom>
          <a:solidFill>
            <a:srgbClr val="1E7878"/>
          </a:solidFill>
          <a:ln/>
        </p:spPr>
      </p:sp>
      <p:sp>
        <p:nvSpPr>
          <p:cNvPr id="37" name="Text 33"/>
          <p:cNvSpPr/>
          <p:nvPr/>
        </p:nvSpPr>
        <p:spPr>
          <a:xfrm>
            <a:off x="4773168" y="26974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Correlation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4754880" y="3127248"/>
            <a:ext cx="201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956048" y="310896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Glucose: r = 0.23 — weak positive. Metabolic regulation shifts with age.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4754880" y="3584448"/>
            <a:ext cx="201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4956048" y="356616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&amp; Age: r = 0.03 — nearly independent; BMI does not scale with age.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4754880" y="4041648"/>
            <a:ext cx="201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4956048" y="402336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&amp; Glucose: r = 0.15 — very weak association.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4754880" y="4498848"/>
            <a:ext cx="201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4956048" y="448056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correlations below 0.7 threshold — no multicollinearity concern. Each predictor provides distinct information for the model.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23">
            <a:extLst>
              <a:ext uri="{FF2B5EF4-FFF2-40B4-BE49-F238E27FC236}">
                <a16:creationId xmlns:a16="http://schemas.microsoft.com/office/drawing/2014/main" id="{E3B16519-825E-8C6B-A8B4-9BEDD40E983E}"/>
              </a:ext>
            </a:extLst>
          </p:cNvPr>
          <p:cNvSpPr/>
          <p:nvPr/>
        </p:nvSpPr>
        <p:spPr>
          <a:xfrm>
            <a:off x="5120640" y="4209669"/>
            <a:ext cx="3794760" cy="765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5303520" cy="45720"/>
          </a:xfrm>
          <a:prstGeom prst="rect">
            <a:avLst/>
          </a:prstGeom>
          <a:solidFill>
            <a:srgbClr val="1E7878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0" y="640080"/>
            <a:ext cx="3108960" cy="45720"/>
          </a:xfrm>
          <a:prstGeom prst="rect">
            <a:avLst/>
          </a:prstGeom>
          <a:solidFill>
            <a:srgbClr val="E8933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416052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097280"/>
            <a:ext cx="73152" cy="896112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" y="1353312"/>
            <a:ext cx="310896" cy="310896"/>
          </a:xfrm>
          <a:prstGeom prst="ellipse">
            <a:avLst/>
          </a:prstGeom>
          <a:solidFill>
            <a:srgbClr val="1A6B6B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335024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152144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Train–Test Split</a:t>
            </a:r>
            <a:endParaRPr lang="en-US" sz="1100" dirty="0">
              <a:solidFill>
                <a:srgbClr val="1A6B6B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1444752"/>
            <a:ext cx="35478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training (n=2,966) · 30% test (n=1,270). Stratified random sampling preserves stroke class ratio.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057400"/>
            <a:ext cx="416052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2057400"/>
            <a:ext cx="73152" cy="896112"/>
          </a:xfrm>
          <a:prstGeom prst="rect">
            <a:avLst/>
          </a:prstGeom>
          <a:solidFill>
            <a:srgbClr val="1E7878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" y="2313432"/>
            <a:ext cx="310896" cy="310896"/>
          </a:xfrm>
          <a:prstGeom prst="ellipse">
            <a:avLst/>
          </a:prstGeom>
          <a:solidFill>
            <a:srgbClr val="1E7878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2295144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112264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Upsampling (Class Balance)</a:t>
            </a:r>
            <a:endParaRPr lang="en-US" sz="1100" dirty="0">
              <a:solidFill>
                <a:srgbClr val="1A6B6B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2404872"/>
            <a:ext cx="35478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class upsampled to match non-stroke: 3,192 per class → 6,384 total training observations.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416052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3017520"/>
            <a:ext cx="73152" cy="896112"/>
          </a:xfrm>
          <a:prstGeom prst="rect">
            <a:avLst/>
          </a:prstGeom>
          <a:solidFill>
            <a:srgbClr val="E8933A"/>
          </a:solidFill>
          <a:ln/>
        </p:spPr>
      </p:sp>
      <p:sp>
        <p:nvSpPr>
          <p:cNvPr id="21" name="Shape 19"/>
          <p:cNvSpPr/>
          <p:nvPr/>
        </p:nvSpPr>
        <p:spPr>
          <a:xfrm>
            <a:off x="438912" y="3273552"/>
            <a:ext cx="310896" cy="310896"/>
          </a:xfrm>
          <a:prstGeom prst="ellipse">
            <a:avLst/>
          </a:prstGeom>
          <a:solidFill>
            <a:srgbClr val="E8933A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3255264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072384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Model</a:t>
            </a:r>
            <a:endParaRPr lang="en-US" sz="1100" dirty="0">
              <a:solidFill>
                <a:srgbClr val="1A6B6B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2960" y="3364992"/>
            <a:ext cx="35478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logistic regression fitted using </a:t>
            </a:r>
            <a:r>
              <a:rPr lang="en-US" sz="950" dirty="0" err="1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</a:t>
            </a:r>
            <a:r>
              <a:rPr lang="en-US" sz="950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() in R with sigmoid function to estimate stroke probability.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977640"/>
            <a:ext cx="416052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3977640"/>
            <a:ext cx="73152" cy="896112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27" name="Shape 25"/>
          <p:cNvSpPr/>
          <p:nvPr/>
        </p:nvSpPr>
        <p:spPr>
          <a:xfrm>
            <a:off x="438912" y="4233672"/>
            <a:ext cx="310896" cy="310896"/>
          </a:xfrm>
          <a:prstGeom prst="ellipse">
            <a:avLst/>
          </a:prstGeom>
          <a:solidFill>
            <a:srgbClr val="1A6B6B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" y="4215384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4032504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1100" dirty="0">
              <a:solidFill>
                <a:srgbClr val="1A6B6B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822960" y="4325112"/>
            <a:ext cx="35478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Hosmer–Lemeshow test (p=0.642&gt;0.05 → good fit). VIF≈1.0 for all predictors → no multicollinearity.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6344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63440" y="10789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10022" y="1126998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0" y="1572768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Stroke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12280" y="1572768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 rot="16200000">
            <a:off x="4663440" y="182880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20640" y="180136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652260" y="300151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248275" y="1412748"/>
            <a:ext cx="1637157" cy="772668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40" name="Text 38"/>
          <p:cNvSpPr/>
          <p:nvPr/>
        </p:nvSpPr>
        <p:spPr>
          <a:xfrm>
            <a:off x="5495544" y="1676885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949440" y="1389888"/>
            <a:ext cx="1517142" cy="795528"/>
          </a:xfrm>
          <a:prstGeom prst="rect">
            <a:avLst/>
          </a:prstGeom>
          <a:solidFill>
            <a:srgbClr val="E8933A"/>
          </a:solidFill>
          <a:ln/>
        </p:spPr>
      </p:sp>
      <p:sp>
        <p:nvSpPr>
          <p:cNvPr id="42" name="Text 40"/>
          <p:cNvSpPr/>
          <p:nvPr/>
        </p:nvSpPr>
        <p:spPr>
          <a:xfrm>
            <a:off x="6995541" y="1676885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248275" y="2231136"/>
            <a:ext cx="1637157" cy="809243"/>
          </a:xfrm>
          <a:prstGeom prst="rect">
            <a:avLst/>
          </a:prstGeom>
          <a:solidFill>
            <a:srgbClr val="E8933A"/>
          </a:solidFill>
          <a:ln/>
        </p:spPr>
      </p:sp>
      <p:sp>
        <p:nvSpPr>
          <p:cNvPr id="44" name="Text 42"/>
          <p:cNvSpPr/>
          <p:nvPr/>
        </p:nvSpPr>
        <p:spPr>
          <a:xfrm>
            <a:off x="5513832" y="238887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922008" y="2221991"/>
            <a:ext cx="1517142" cy="818387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46" name="Text 44"/>
          <p:cNvSpPr/>
          <p:nvPr/>
        </p:nvSpPr>
        <p:spPr>
          <a:xfrm>
            <a:off x="6922008" y="2221992"/>
            <a:ext cx="151714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634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727448" y="444741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4663440" y="477316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784848" y="477316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120640" y="3273552"/>
            <a:ext cx="3913632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610F260-1DB0-8F0C-A365-C8DAE9BB2B95}"/>
              </a:ext>
            </a:extLst>
          </p:cNvPr>
          <p:cNvSpPr txBox="1"/>
          <p:nvPr/>
        </p:nvSpPr>
        <p:spPr>
          <a:xfrm>
            <a:off x="5296090" y="3305554"/>
            <a:ext cx="2977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true positives (TP), true negatives (TN), false positives (FP), and false negatives (FN).</a:t>
            </a:r>
          </a:p>
          <a:p>
            <a:endParaRPr lang="en-US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A8063E8-D951-4BDB-62E4-CBB2FB0C22EE}"/>
              </a:ext>
            </a:extLst>
          </p:cNvPr>
          <p:cNvSpPr/>
          <p:nvPr/>
        </p:nvSpPr>
        <p:spPr>
          <a:xfrm>
            <a:off x="5070348" y="3305554"/>
            <a:ext cx="3368802" cy="424055"/>
          </a:xfrm>
          <a:prstGeom prst="rect">
            <a:avLst/>
          </a:prstGeom>
          <a:solidFill>
            <a:srgbClr val="FF99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9900"/>
              </a:solidFill>
            </a:endParaRPr>
          </a:p>
        </p:txBody>
      </p:sp>
      <p:sp>
        <p:nvSpPr>
          <p:cNvPr id="50" name="Shape 28">
            <a:extLst>
              <a:ext uri="{FF2B5EF4-FFF2-40B4-BE49-F238E27FC236}">
                <a16:creationId xmlns:a16="http://schemas.microsoft.com/office/drawing/2014/main" id="{4C4EB64D-74C2-7E3E-6C83-246D1500C7BD}"/>
              </a:ext>
            </a:extLst>
          </p:cNvPr>
          <p:cNvSpPr/>
          <p:nvPr/>
        </p:nvSpPr>
        <p:spPr>
          <a:xfrm>
            <a:off x="5157216" y="4440365"/>
            <a:ext cx="384048" cy="384048"/>
          </a:xfrm>
          <a:prstGeom prst="ellipse">
            <a:avLst/>
          </a:prstGeom>
          <a:solidFill>
            <a:srgbClr val="1E7878"/>
          </a:solidFill>
          <a:ln/>
        </p:spPr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75AF0820-2D32-06D2-9984-7812A8C71843}"/>
              </a:ext>
            </a:extLst>
          </p:cNvPr>
          <p:cNvSpPr/>
          <p:nvPr/>
        </p:nvSpPr>
        <p:spPr>
          <a:xfrm>
            <a:off x="5033772" y="4435603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  5</a:t>
            </a:r>
            <a:endParaRPr lang="en-US" sz="1300" dirty="0"/>
          </a:p>
        </p:txBody>
      </p:sp>
      <p:sp>
        <p:nvSpPr>
          <p:cNvPr id="52" name="Text 30">
            <a:extLst>
              <a:ext uri="{FF2B5EF4-FFF2-40B4-BE49-F238E27FC236}">
                <a16:creationId xmlns:a16="http://schemas.microsoft.com/office/drawing/2014/main" id="{CEACD715-4812-2B54-30D6-0592B44C945E}"/>
              </a:ext>
            </a:extLst>
          </p:cNvPr>
          <p:cNvSpPr/>
          <p:nvPr/>
        </p:nvSpPr>
        <p:spPr>
          <a:xfrm>
            <a:off x="5490972" y="4283393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709CF460-519B-13DB-78D1-D57F2ADFD9E4}"/>
              </a:ext>
            </a:extLst>
          </p:cNvPr>
          <p:cNvSpPr/>
          <p:nvPr/>
        </p:nvSpPr>
        <p:spPr>
          <a:xfrm>
            <a:off x="5394960" y="4178808"/>
            <a:ext cx="3520440" cy="6812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>
              <a:solidFill>
                <a:srgbClr val="1A30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50" dirty="0">
              <a:solidFill>
                <a:srgbClr val="1A30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50" dirty="0">
              <a:solidFill>
                <a:srgbClr val="1A30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50" dirty="0">
              <a:solidFill>
                <a:srgbClr val="FF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1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Evaluated using Confusion Matrix, Accuracy, Sensitivity, Specificity,      Precision, F1 Score, and AUC-ROC.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55" name="Shape 24">
            <a:extLst>
              <a:ext uri="{FF2B5EF4-FFF2-40B4-BE49-F238E27FC236}">
                <a16:creationId xmlns:a16="http://schemas.microsoft.com/office/drawing/2014/main" id="{13F3CF1A-9D82-EB29-7F7B-4BF1B63D2C61}"/>
              </a:ext>
            </a:extLst>
          </p:cNvPr>
          <p:cNvSpPr/>
          <p:nvPr/>
        </p:nvSpPr>
        <p:spPr>
          <a:xfrm>
            <a:off x="5052060" y="4144137"/>
            <a:ext cx="73152" cy="896112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AE4838D7-E85B-F375-E5FC-4AF9209BD551}"/>
              </a:ext>
            </a:extLst>
          </p:cNvPr>
          <p:cNvSpPr/>
          <p:nvPr/>
        </p:nvSpPr>
        <p:spPr>
          <a:xfrm>
            <a:off x="4628007" y="2745486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7E7E"/>
                </a:solidFill>
              </a:rPr>
              <a:t>▶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8353D694-F4AB-988B-0E42-3D1ED37081CD}"/>
              </a:ext>
            </a:extLst>
          </p:cNvPr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20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7D77095D-B8A2-7E56-F6D0-956396B5CC1D}"/>
              </a:ext>
            </a:extLst>
          </p:cNvPr>
          <p:cNvSpPr/>
          <p:nvPr/>
        </p:nvSpPr>
        <p:spPr>
          <a:xfrm>
            <a:off x="274320" y="7498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Predictors (p &lt; 0.05)</a:t>
            </a:r>
            <a:endParaRPr lang="en-US" sz="1300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6B7CF430-450A-E271-7879-C94F986D03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793414"/>
              </p:ext>
            </p:extLst>
          </p:nvPr>
        </p:nvGraphicFramePr>
        <p:xfrm>
          <a:off x="274320" y="1115568"/>
          <a:ext cx="8595360" cy="236829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 Ratio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[1.073, 1.083]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 increase in risk per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Hypertension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[1.333, 1.833]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56.2% higher stroke odds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Disease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[1.125, 1.670]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36.8% higher stroke odds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Smoking (Active)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[1.165, 1.691]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40.4% higher odds vs former smoker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Glucose 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[1.003, 1.006]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but significant per mg/dL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Type (Private)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[1.182, 1.680]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Lifestyle/stress-related association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3">
            <a:extLst>
              <a:ext uri="{FF2B5EF4-FFF2-40B4-BE49-F238E27FC236}">
                <a16:creationId xmlns:a16="http://schemas.microsoft.com/office/drawing/2014/main" id="{44ACA1BF-2D27-7D73-247B-A1D19B33F580}"/>
              </a:ext>
            </a:extLst>
          </p:cNvPr>
          <p:cNvSpPr/>
          <p:nvPr/>
        </p:nvSpPr>
        <p:spPr>
          <a:xfrm>
            <a:off x="27432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C5F6FD3-02BA-4AD8-012F-0D842E8A8B62}"/>
              </a:ext>
            </a:extLst>
          </p:cNvPr>
          <p:cNvSpPr/>
          <p:nvPr/>
        </p:nvSpPr>
        <p:spPr>
          <a:xfrm>
            <a:off x="274320" y="3977640"/>
            <a:ext cx="1316736" cy="804672"/>
          </a:xfrm>
          <a:prstGeom prst="rect">
            <a:avLst/>
          </a:prstGeom>
          <a:solidFill>
            <a:srgbClr val="E4F0F0"/>
          </a:solidFill>
          <a:ln w="12700">
            <a:solidFill>
              <a:srgbClr val="1E7878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466F0C9-6FE5-B29A-B1AE-0993562E2B66}"/>
              </a:ext>
            </a:extLst>
          </p:cNvPr>
          <p:cNvSpPr/>
          <p:nvPr/>
        </p:nvSpPr>
        <p:spPr>
          <a:xfrm>
            <a:off x="274320" y="398678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75.4%</a:t>
            </a: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1ACBDBE-4591-A12A-03A4-5158E93AED02}"/>
              </a:ext>
            </a:extLst>
          </p:cNvPr>
          <p:cNvSpPr/>
          <p:nvPr/>
        </p:nvSpPr>
        <p:spPr>
          <a:xfrm>
            <a:off x="274320" y="4425696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12EA42A-0B01-B702-2C44-748A38BD4947}"/>
              </a:ext>
            </a:extLst>
          </p:cNvPr>
          <p:cNvSpPr/>
          <p:nvPr/>
        </p:nvSpPr>
        <p:spPr>
          <a:xfrm>
            <a:off x="1709928" y="3977640"/>
            <a:ext cx="1316736" cy="804672"/>
          </a:xfrm>
          <a:prstGeom prst="rect">
            <a:avLst/>
          </a:prstGeom>
          <a:solidFill>
            <a:srgbClr val="E4F0F0"/>
          </a:solidFill>
          <a:ln w="12700">
            <a:solidFill>
              <a:srgbClr val="1E7878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7066D95-3892-DE54-724E-BCDBA4361D1B}"/>
              </a:ext>
            </a:extLst>
          </p:cNvPr>
          <p:cNvSpPr/>
          <p:nvPr/>
        </p:nvSpPr>
        <p:spPr>
          <a:xfrm>
            <a:off x="1709928" y="398678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73.5%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F9ADD18-AB63-AE3C-025E-850D3E0B2842}"/>
              </a:ext>
            </a:extLst>
          </p:cNvPr>
          <p:cNvSpPr/>
          <p:nvPr/>
        </p:nvSpPr>
        <p:spPr>
          <a:xfrm>
            <a:off x="1709928" y="4425696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9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726DD8F-C772-5CAA-7E21-2AE2A6DB6F9A}"/>
              </a:ext>
            </a:extLst>
          </p:cNvPr>
          <p:cNvSpPr/>
          <p:nvPr/>
        </p:nvSpPr>
        <p:spPr>
          <a:xfrm>
            <a:off x="3145536" y="3977640"/>
            <a:ext cx="1316736" cy="804672"/>
          </a:xfrm>
          <a:prstGeom prst="rect">
            <a:avLst/>
          </a:prstGeom>
          <a:solidFill>
            <a:srgbClr val="E4F0F0"/>
          </a:solidFill>
          <a:ln w="12700">
            <a:solidFill>
              <a:srgbClr val="1E7878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B69D26B-5FB6-4F09-FABF-6397C273B401}"/>
              </a:ext>
            </a:extLst>
          </p:cNvPr>
          <p:cNvSpPr/>
          <p:nvPr/>
        </p:nvSpPr>
        <p:spPr>
          <a:xfrm>
            <a:off x="3145536" y="398678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77.7%</a:t>
            </a:r>
            <a:endParaRPr lang="en-US" sz="1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4B8C6D8-F95D-C4CD-4AEC-6D8892906018}"/>
              </a:ext>
            </a:extLst>
          </p:cNvPr>
          <p:cNvSpPr/>
          <p:nvPr/>
        </p:nvSpPr>
        <p:spPr>
          <a:xfrm>
            <a:off x="3145536" y="4425696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9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DE40BC8-98CE-0565-0B51-D20AABEB7D39}"/>
              </a:ext>
            </a:extLst>
          </p:cNvPr>
          <p:cNvSpPr/>
          <p:nvPr/>
        </p:nvSpPr>
        <p:spPr>
          <a:xfrm>
            <a:off x="4581144" y="3977640"/>
            <a:ext cx="1316736" cy="804672"/>
          </a:xfrm>
          <a:prstGeom prst="rect">
            <a:avLst/>
          </a:prstGeom>
          <a:solidFill>
            <a:srgbClr val="E4F0F0"/>
          </a:solidFill>
          <a:ln w="12700">
            <a:solidFill>
              <a:srgbClr val="1E7878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C643081-7C26-3D64-05CA-65C9EAB7A9B4}"/>
              </a:ext>
            </a:extLst>
          </p:cNvPr>
          <p:cNvSpPr/>
          <p:nvPr/>
        </p:nvSpPr>
        <p:spPr>
          <a:xfrm>
            <a:off x="4581144" y="398678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79.5%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CEE051C-A487-E135-C148-C639CE3009F3}"/>
              </a:ext>
            </a:extLst>
          </p:cNvPr>
          <p:cNvSpPr/>
          <p:nvPr/>
        </p:nvSpPr>
        <p:spPr>
          <a:xfrm>
            <a:off x="4581144" y="4425696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331DF98-6C01-E9D0-C80F-6F7EFE49A11E}"/>
              </a:ext>
            </a:extLst>
          </p:cNvPr>
          <p:cNvSpPr/>
          <p:nvPr/>
        </p:nvSpPr>
        <p:spPr>
          <a:xfrm>
            <a:off x="6016752" y="3977640"/>
            <a:ext cx="1316736" cy="804672"/>
          </a:xfrm>
          <a:prstGeom prst="rect">
            <a:avLst/>
          </a:prstGeom>
          <a:solidFill>
            <a:srgbClr val="E4F0F0"/>
          </a:solidFill>
          <a:ln w="12700">
            <a:solidFill>
              <a:srgbClr val="1E7878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D0B9BDD-B6D2-DEC5-8BCD-A38B23047A3F}"/>
              </a:ext>
            </a:extLst>
          </p:cNvPr>
          <p:cNvSpPr/>
          <p:nvPr/>
        </p:nvSpPr>
        <p:spPr>
          <a:xfrm>
            <a:off x="6016752" y="398678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76.4%</a:t>
            </a:r>
            <a:endParaRPr lang="en-US" sz="1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5094C2D-1088-0A18-49C2-D82DA9A6C957}"/>
              </a:ext>
            </a:extLst>
          </p:cNvPr>
          <p:cNvSpPr/>
          <p:nvPr/>
        </p:nvSpPr>
        <p:spPr>
          <a:xfrm>
            <a:off x="6016752" y="4425696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1F07709-246F-44B3-8AA2-EF5AA5E54E18}"/>
              </a:ext>
            </a:extLst>
          </p:cNvPr>
          <p:cNvSpPr/>
          <p:nvPr/>
        </p:nvSpPr>
        <p:spPr>
          <a:xfrm>
            <a:off x="7452360" y="3977640"/>
            <a:ext cx="1316736" cy="804672"/>
          </a:xfrm>
          <a:prstGeom prst="rect">
            <a:avLst/>
          </a:prstGeom>
          <a:solidFill>
            <a:srgbClr val="1E7878"/>
          </a:solidFill>
          <a:ln w="12700">
            <a:solidFill>
              <a:srgbClr val="1E7878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EEF2247-A47F-04C1-7F2F-2EFE9645272F}"/>
              </a:ext>
            </a:extLst>
          </p:cNvPr>
          <p:cNvSpPr/>
          <p:nvPr/>
        </p:nvSpPr>
        <p:spPr>
          <a:xfrm>
            <a:off x="7452360" y="398678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0.8395</a:t>
            </a:r>
            <a:endParaRPr lang="en-US" sz="1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47A4632-90C5-DA99-F280-099067A75F63}"/>
              </a:ext>
            </a:extLst>
          </p:cNvPr>
          <p:cNvSpPr/>
          <p:nvPr/>
        </p:nvSpPr>
        <p:spPr>
          <a:xfrm>
            <a:off x="7452360" y="4425696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CC6D9E0-2E7F-2114-A725-AF7D0222BAC9}"/>
              </a:ext>
            </a:extLst>
          </p:cNvPr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E0EFEF"/>
          </a:solidFill>
          <a:ln w="12700">
            <a:solidFill>
              <a:srgbClr val="4AAA7A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D2C4CF6-4081-C0AC-8A59-930A80DD6E39}"/>
              </a:ext>
            </a:extLst>
          </p:cNvPr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Hosmer–Lemeshow Goodness-of-Fit: χ² = 6.05,  p = 0.642  (p &gt; 0.05 → Model fits data well)     ✔  VIF ≈ 1.0 for all predictors → No multicollinearity</a:t>
            </a:r>
            <a:endParaRPr lang="en-US" sz="950" dirty="0"/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E22B110F-72A7-C973-177C-83A030A3E388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407E2B1C-C921-144E-3CBC-4F944E876571}"/>
              </a:ext>
            </a:extLst>
          </p:cNvPr>
          <p:cNvSpPr/>
          <p:nvPr/>
        </p:nvSpPr>
        <p:spPr>
          <a:xfrm>
            <a:off x="518160" y="8229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200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333AB28D-EF54-3A4E-A387-A4DCA25DD5AE}"/>
              </a:ext>
            </a:extLst>
          </p:cNvPr>
          <p:cNvSpPr/>
          <p:nvPr/>
        </p:nvSpPr>
        <p:spPr>
          <a:xfrm>
            <a:off x="374904" y="685419"/>
            <a:ext cx="5303520" cy="45720"/>
          </a:xfrm>
          <a:prstGeom prst="rect">
            <a:avLst/>
          </a:prstGeom>
          <a:solidFill>
            <a:srgbClr val="1E7878"/>
          </a:solidFill>
          <a:ln/>
        </p:spPr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98AA0A5E-625F-3EB7-4A31-89DADDE72C10}"/>
              </a:ext>
            </a:extLst>
          </p:cNvPr>
          <p:cNvSpPr/>
          <p:nvPr/>
        </p:nvSpPr>
        <p:spPr>
          <a:xfrm>
            <a:off x="5669280" y="685419"/>
            <a:ext cx="3108960" cy="45720"/>
          </a:xfrm>
          <a:prstGeom prst="rect">
            <a:avLst/>
          </a:prstGeom>
          <a:solidFill>
            <a:srgbClr val="E8933A"/>
          </a:solidFill>
          <a:ln/>
        </p:spPr>
      </p:sp>
    </p:spTree>
    <p:extLst>
      <p:ext uri="{BB962C8B-B14F-4D97-AF65-F5344CB8AC3E}">
        <p14:creationId xmlns:p14="http://schemas.microsoft.com/office/powerpoint/2010/main" val="13368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474720" cy="3474720"/>
          </a:xfrm>
          <a:prstGeom prst="ellipse">
            <a:avLst/>
          </a:prstGeom>
          <a:solidFill>
            <a:srgbClr val="1E7878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291840"/>
            <a:ext cx="2926080" cy="2926080"/>
          </a:xfrm>
          <a:prstGeom prst="ellipse">
            <a:avLst/>
          </a:prstGeom>
          <a:solidFill>
            <a:srgbClr val="0F4A4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303520" cy="45720"/>
          </a:xfrm>
          <a:prstGeom prst="rect">
            <a:avLst/>
          </a:prstGeom>
          <a:solidFill>
            <a:srgbClr val="E8933A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669280" y="749808"/>
            <a:ext cx="310896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4251960" cy="1874520"/>
          </a:xfrm>
          <a:prstGeom prst="rect">
            <a:avLst/>
          </a:prstGeom>
          <a:solidFill>
            <a:srgbClr val="1E7878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960120"/>
            <a:ext cx="4251960" cy="384048"/>
          </a:xfrm>
          <a:prstGeom prst="rect">
            <a:avLst/>
          </a:prstGeom>
          <a:solidFill>
            <a:srgbClr val="E893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1498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Stroke Risk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39776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the strongest predictor (OR=1.078) — risk increases 7.8% per year. Risk rises sharply after 60 years.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953512"/>
            <a:ext cx="4251960" cy="1874520"/>
          </a:xfrm>
          <a:prstGeom prst="rect">
            <a:avLst/>
          </a:prstGeom>
          <a:solidFill>
            <a:srgbClr val="1E7878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953512"/>
            <a:ext cx="4251960" cy="384048"/>
          </a:xfrm>
          <a:prstGeom prst="rect">
            <a:avLst/>
          </a:prstGeom>
          <a:solidFill>
            <a:srgbClr val="1E787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0837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Risk Factors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456432"/>
            <a:ext cx="39776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(OR=1.56) and Heart Disease (OR=1.37) significantly elevate stroke odds. Early management is critical.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36592" y="960120"/>
            <a:ext cx="4251960" cy="1874520"/>
          </a:xfrm>
          <a:prstGeom prst="rect">
            <a:avLst/>
          </a:prstGeom>
          <a:solidFill>
            <a:srgbClr val="1E7878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736592" y="960120"/>
            <a:ext cx="4251960" cy="384048"/>
          </a:xfrm>
          <a:prstGeom prst="rect">
            <a:avLst/>
          </a:prstGeom>
          <a:solidFill>
            <a:srgbClr val="E8933A"/>
          </a:solidFill>
          <a:ln/>
        </p:spPr>
      </p:sp>
      <p:sp>
        <p:nvSpPr>
          <p:cNvPr id="17" name="Text 15"/>
          <p:cNvSpPr/>
          <p:nvPr/>
        </p:nvSpPr>
        <p:spPr>
          <a:xfrm>
            <a:off x="4873752" y="101498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Factors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73752" y="1463040"/>
            <a:ext cx="39776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smoking increases odds by 40.4%. BMI and Gender were NOT statistically significant in this dataset.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36592" y="2953512"/>
            <a:ext cx="4251960" cy="1874520"/>
          </a:xfrm>
          <a:prstGeom prst="rect">
            <a:avLst/>
          </a:prstGeom>
          <a:solidFill>
            <a:srgbClr val="1E7878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736592" y="2953512"/>
            <a:ext cx="4251960" cy="384048"/>
          </a:xfrm>
          <a:prstGeom prst="rect">
            <a:avLst/>
          </a:prstGeom>
          <a:solidFill>
            <a:srgbClr val="1E7878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00837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73752" y="3456432"/>
            <a:ext cx="39776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75.4% · AUC 0.8395 · F1 76.4%. Hosmer-Lemeshow p=0.642 confirms excellent model calibration.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1E7878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Random Forest · SVM · Neural Networks · Real-time Clinical Data · Web/Mobile Screening Tool · Diverse Datasets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998</Words>
  <Application>Microsoft Office PowerPoint</Application>
  <PresentationFormat>On-screen Show (16:9)</PresentationFormat>
  <Paragraphs>249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bhavyaprakasam19@gmail.com</cp:lastModifiedBy>
  <cp:revision>6</cp:revision>
  <dcterms:created xsi:type="dcterms:W3CDTF">2026-04-19T15:19:47Z</dcterms:created>
  <dcterms:modified xsi:type="dcterms:W3CDTF">2026-06-02T14:59:09Z</dcterms:modified>
</cp:coreProperties>
</file>